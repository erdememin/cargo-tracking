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Projenin amacı yalnızca çalışan bir REST API geliştirmek değil; uçtan uca kod yazma → test etme → olay üretme → olay tüketme → ölçme → görselleştirme → container'da çalıştırma zincirini kurmak.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Kargo oluştuğunda birden çok tarafı haberdar etmem gerekiyor. Doğrudan çağırsam API yavaşlar ve biri çökerse tüm zincir düşer. Kafka tampon görevi görür: event yazılır, ilgilenenler sonra kendi hızında okur.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Akışı soldan sağa takip et. API iki iş yapar: SQLite'a yazar, Kafka'ya event gönderir. Consumer event'i okuyup işler ve kendi metrik sayacını artırır. Prometheus iki hedefi scrape eder, Grafana sorgular.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Terminal durum kuralını vurgula. Hoca 'neden önemli' diye sorarsa: gerçek hayatta teslim edilmiş kargo iptal edilemez. Kural models.py'de, test_06 ve test_06b ile doğrulandı.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olarak cargo_id vermek önemli bir karar. Kafka key'e göre partition atar; key yoksa round-robin dağıtır. Aynı kargonun iki olayının farklı partition'a gitmesi sıralama garantisini kırar.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çok savunduğum tasarım kararı bu. Testler KAFKA_ENABLED=0 ile Kafka olmadan koşar; API açılışı Kafka'ya bağlı değildir. Production'da kalıcı kuyruk (dead-letter topic) eklenebilir — ileriye yönelik öneri.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Counter ile Gauge farkını bilmesi gerekebilir: Counter sadece artar, Gauge ini çekilir. Kargo sayısı monoton artar → Counter doğru seçim. Histogram'ın _sum/_count/_max üretmesi ortalama süre hesabını mümkün kılar.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Provisioning'in avantajını açıkla: ortamlar arası tekrarlanabilirlik, sürüm kontrolü, container yeniden başlasa da korunması.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ÖNEMLİ NOKTA BURASI: API'nin ürettiği sayaçlar ile consumer'ın saydığı event sayısı birebir aynı (20/17/5/2). Producer ile consumer farklı süreçlerde, farklı sayaçlarla çalışıyor; eşleşmeleri event'lerin kayıpsız iletildiğinin somut kanıtı. Bunu vurgula.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Dockerfile tek, iki servis onu paylaşıyor. Kafka için bitnami yerine resmi apache imajı kullanıldı (bitnami etiketlerini taşıdı). Healthcheck sayesinde consumer, Kafka hazır olmadan event dinlemeye başlamıyor.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Slayt 11'de geçiş yap, slayt 12'ye hemen geçme. Burada canlı demoyu yap, sonra dön. Sıra: 1) curl POST /cargo 2) consumer logları 3) /metrics 4) Prometheus targets 5) Grafana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Kapanış: Nihai hedef kod yazma → test etme → olay üretme → olay tüketme → ölçme → görselleştirme → container'da çalıştırma zinciriydi ve hepsi tamamlandı. Soru varsa mimari, terminal durum kuralı, test izolasyonu veya metrik tasarımı üzerinden git.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Kafka ve Grafana Tabanlı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971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F6FEB"/>
                </a:solidFill>
                <a:latin typeface="Arial"/>
              </a:rPr>
              <a:t>Kargo Takip Sistemi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829AB1"/>
                </a:solidFill>
                <a:latin typeface="Arial"/>
              </a:rPr>
              <a:t>Olay tabanlı mimari ile izlenebilir bir REST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Erdem Emin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2545"/>
                </a:solidFill>
                <a:latin typeface="Arial"/>
              </a:rPr>
              <a:t>Problem ve Çözüm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800">
                <a:solidFill>
                  <a:srgbClr val="0B2545"/>
                </a:solidFill>
                <a:latin typeface="Arial"/>
              </a:rPr>
              <a:t>•  Kargo durumu değişiklikleri birden fazla servise bildirilmelidir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800">
                <a:solidFill>
                  <a:srgbClr val="0B2545"/>
                </a:solidFill>
                <a:latin typeface="Arial"/>
              </a:rPr>
              <a:t>•  Klasik yaklaşımda API her bileşene doğrudan bağlanır → sıkı bağımlılık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800">
                <a:solidFill>
                  <a:srgbClr val="0B2545"/>
                </a:solidFill>
                <a:latin typeface="Arial"/>
              </a:rPr>
              <a:t>•  Çözüm: olay tabanlı mimari — API sadece olayı üretir, bağlı olanlar dinler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800">
                <a:solidFill>
                  <a:srgbClr val="0B2545"/>
                </a:solidFill>
                <a:latin typeface="Arial"/>
              </a:rPr>
              <a:t>•  Sonuç: API yavaşlasa bile event'ler kaybolmaz, yeni servisler kolayca eklenir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800">
                <a:solidFill>
                  <a:srgbClr val="0B2545"/>
                </a:solidFill>
                <a:latin typeface="Arial"/>
              </a:rPr>
              <a:t>•  Bu projede: Flask → Kafka → Consumer → Prometheus → Grafana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2545"/>
                </a:solidFill>
                <a:latin typeface="Arial"/>
              </a:rPr>
              <a:t>Sistem Mimarisi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25880"/>
            <a:ext cx="1143000" cy="5029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Client</a:t>
            </a:r>
          </a:p>
        </p:txBody>
      </p:sp>
      <p:sp>
        <p:nvSpPr>
          <p:cNvPr id="4" name="Chevron 3"/>
          <p:cNvSpPr/>
          <p:nvPr/>
        </p:nvSpPr>
        <p:spPr>
          <a:xfrm>
            <a:off x="1783080" y="1444752"/>
            <a:ext cx="1325880" cy="274320"/>
          </a:xfrm>
          <a:prstGeom prst="chevron">
            <a:avLst/>
          </a:prstGeom>
          <a:solidFill>
            <a:srgbClr val="829A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900" b="1">
                <a:solidFill>
                  <a:srgbClr val="0B2545"/>
                </a:solidFill>
                <a:latin typeface="Arial"/>
              </a:rPr>
              <a:t>POST /cargo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6120" y="1188720"/>
            <a:ext cx="1737360" cy="77724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Flask API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:5000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77440"/>
            <a:ext cx="1463040" cy="685800"/>
          </a:xfrm>
          <a:prstGeom prst="round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SQLite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kargo kaydı</a:t>
            </a:r>
          </a:p>
        </p:txBody>
      </p:sp>
      <p:sp>
        <p:nvSpPr>
          <p:cNvPr id="7" name="Chevron 6"/>
          <p:cNvSpPr/>
          <p:nvPr/>
        </p:nvSpPr>
        <p:spPr>
          <a:xfrm>
            <a:off x="2011680" y="2514600"/>
            <a:ext cx="1188720" cy="292608"/>
          </a:xfrm>
          <a:prstGeom prst="chevron">
            <a:avLst/>
          </a:prstGeom>
          <a:solidFill>
            <a:srgbClr val="829A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800" b="1">
                <a:solidFill>
                  <a:srgbClr val="0B2545"/>
                </a:solidFill>
                <a:latin typeface="Arial"/>
              </a:rPr>
              <a:t>kaydeder + event üretir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188720"/>
            <a:ext cx="1920240" cy="91440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Kafka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cargo-events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:9092</a:t>
            </a:r>
          </a:p>
        </p:txBody>
      </p:sp>
      <p:sp>
        <p:nvSpPr>
          <p:cNvPr id="9" name="Chevron 8"/>
          <p:cNvSpPr/>
          <p:nvPr/>
        </p:nvSpPr>
        <p:spPr>
          <a:xfrm>
            <a:off x="4892040" y="1481328"/>
            <a:ext cx="640080" cy="274320"/>
          </a:xfrm>
          <a:prstGeom prst="chevron">
            <a:avLst/>
          </a:prstGeom>
          <a:solidFill>
            <a:srgbClr val="829A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700" b="1">
                <a:solidFill>
                  <a:srgbClr val="0B2545"/>
                </a:solidFill>
                <a:latin typeface="Arial"/>
              </a:rPr>
              <a:t>event gönderir</a:t>
            </a:r>
          </a:p>
        </p:txBody>
      </p:sp>
      <p:sp>
        <p:nvSpPr>
          <p:cNvPr id="10" name="Chevron 9"/>
          <p:cNvSpPr/>
          <p:nvPr/>
        </p:nvSpPr>
        <p:spPr>
          <a:xfrm>
            <a:off x="6172200" y="2331720"/>
            <a:ext cx="731520" cy="274320"/>
          </a:xfrm>
          <a:prstGeom prst="chevron">
            <a:avLst/>
          </a:prstGeom>
          <a:solidFill>
            <a:srgbClr val="829A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700" b="1">
                <a:solidFill>
                  <a:srgbClr val="0B2545"/>
                </a:solidFill>
                <a:latin typeface="Arial"/>
              </a:rPr>
              <a:t>event okunur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7840" y="2788920"/>
            <a:ext cx="1920240" cy="73152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Consumer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:9091</a:t>
            </a:r>
          </a:p>
        </p:txBody>
      </p:sp>
      <p:sp>
        <p:nvSpPr>
          <p:cNvPr id="12" name="Chevron 11"/>
          <p:cNvSpPr/>
          <p:nvPr/>
        </p:nvSpPr>
        <p:spPr>
          <a:xfrm>
            <a:off x="7635240" y="2999232"/>
            <a:ext cx="777240" cy="274320"/>
          </a:xfrm>
          <a:prstGeom prst="chevron">
            <a:avLst/>
          </a:prstGeom>
          <a:solidFill>
            <a:srgbClr val="829A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700" b="1">
                <a:solidFill>
                  <a:srgbClr val="0B2545"/>
                </a:solidFill>
                <a:latin typeface="Arial"/>
              </a:rPr>
              <a:t>metrik üretir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49640" y="2788920"/>
            <a:ext cx="1828800" cy="731520"/>
          </a:xfrm>
          <a:prstGeom prst="round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Prometheus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:9090</a:t>
            </a:r>
          </a:p>
        </p:txBody>
      </p:sp>
      <p:sp>
        <p:nvSpPr>
          <p:cNvPr id="14" name="Chevron 13"/>
          <p:cNvSpPr/>
          <p:nvPr/>
        </p:nvSpPr>
        <p:spPr>
          <a:xfrm>
            <a:off x="8915400" y="2331720"/>
            <a:ext cx="1097280" cy="274320"/>
          </a:xfrm>
          <a:prstGeom prst="chevron">
            <a:avLst/>
          </a:prstGeom>
          <a:solidFill>
            <a:srgbClr val="829A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700" b="1">
                <a:solidFill>
                  <a:srgbClr val="0B2545"/>
                </a:solidFill>
                <a:latin typeface="Arial"/>
              </a:rPr>
              <a:t>sorgular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1188720"/>
            <a:ext cx="1828800" cy="731520"/>
          </a:xfrm>
          <a:prstGeom prst="round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Grafana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:3000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160520"/>
            <a:ext cx="10789920" cy="4572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1300" b="1">
                <a:solidFill>
                  <a:srgbClr val="0B2545"/>
                </a:solidFill>
                <a:latin typeface="Arial"/>
              </a:rPr>
              <a:t>tek komutla ayağa kalkar:  docker compose up -d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2545"/>
                </a:solidFill>
                <a:latin typeface="Arial"/>
              </a:rPr>
              <a:t>REST API ve Durum Makinesi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325880"/>
          <a:ext cx="10789918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4289"/>
                <a:gridCol w="3480619"/>
                <a:gridCol w="3944701"/>
                <a:gridCol w="1740309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Metot</a:t>
                      </a:r>
                    </a:p>
                  </a:txBody>
                  <a:tcPr marL="64008" marR="64008" marT="27432" marB="27432" anchor="ctr"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Yol</a:t>
                      </a:r>
                    </a:p>
                  </a:txBody>
                  <a:tcPr marL="64008" marR="64008" marT="27432" marB="27432" anchor="ctr"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İşlev</a:t>
                      </a:r>
                    </a:p>
                  </a:txBody>
                  <a:tcPr marL="64008" marR="64008" marT="27432" marB="27432" anchor="ctr"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Yanıt</a:t>
                      </a:r>
                    </a:p>
                  </a:txBody>
                  <a:tcPr marL="64008" marR="64008" marT="27432" marB="27432" anchor="ctr">
                    <a:solidFill>
                      <a:srgbClr val="1F6FE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/cargo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Kargo oluştur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GET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/cargo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Listele + filtrele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GET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/cargo/&lt;id&gt;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Tek kargo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PUT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/cargo/&lt;id&gt;/status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Durum değiştir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200/400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DELETE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/cargo/&lt;id&gt;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Sil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200/404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35204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6FEB"/>
                </a:solidFill>
                <a:latin typeface="Arial"/>
              </a:rPr>
              <a:t>Durum akışı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931920"/>
            <a:ext cx="10789920" cy="50292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1300" b="1">
                <a:solidFill>
                  <a:srgbClr val="0B2545"/>
                </a:solidFill>
                <a:latin typeface="Arial"/>
              </a:rPr>
              <a:t>CREATED  →  SHIPPED  →  IN_TRANSIT  →  OUT_FOR_DELIVERY  →  DELIVERED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663440"/>
            <a:ext cx="10789920" cy="502920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DELIVERED ve CANCELLED terminal durumdur — tekrar değiştirilemez, API 400 döner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492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06B7A"/>
                </a:solidFill>
                <a:latin typeface="Arial"/>
              </a:rPr>
              <a:t>Bu kural teslim edilmiş bir kargonun yeniden yola çıkmasını engeller (app/models.py → TERMINAL_STATUSES, testlerle doğrulanmış)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2545"/>
                </a:solidFill>
                <a:latin typeface="Arial"/>
              </a:rPr>
              <a:t>Kafka Producer: 5 Olay Tipi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325880"/>
          <a:ext cx="10789919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02737"/>
                <a:gridCol w="6887182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Event</a:t>
                      </a:r>
                    </a:p>
                  </a:txBody>
                  <a:tcPr marL="64008" marR="64008" marT="27432" marB="27432" anchor="ctr"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Ne zaman gönderilir</a:t>
                      </a:r>
                    </a:p>
                  </a:txBody>
                  <a:tcPr marL="64008" marR="64008" marT="27432" marB="27432" anchor="ctr">
                    <a:solidFill>
                      <a:srgbClr val="1F6FE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cargo.created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Kargo oluşturuldu (POST /cargo)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cargo.status_changed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Durum değişti (PUT /cargo/&lt;id&gt;/status)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cargo.delivered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Durum DELIVERED yapıldı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cargo.cancelled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Durum CANCELLED yapıldı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cargo.deleted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Kargo silindi (DELETE /cargo/&lt;id&gt;)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685800" y="3703320"/>
            <a:ext cx="10789920" cy="4572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cargo_id  mesaj anahtarı (key) olarak kullanılır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3434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06B7A"/>
                </a:solidFill>
                <a:latin typeface="Arial"/>
              </a:rPr>
              <a:t>→ Aynı kargonun event'leri aynı partition'a düşer, sıralama korunur. Key verilmezse round-robin dağıtılır ve sıralama bozulur.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2545"/>
                </a:solidFill>
                <a:latin typeface="Arial"/>
              </a:rPr>
              <a:t>Tasarım Kararı: Kafka Yokken API Çökmez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10789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700">
                <a:solidFill>
                  <a:srgbClr val="0B2545"/>
                </a:solidFill>
                <a:latin typeface="Arial"/>
              </a:rPr>
              <a:t>•  Producer tembel (lazy) bağlanır — uygulama açılışında değil, ilk gönderimde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700">
                <a:solidFill>
                  <a:srgbClr val="0B2545"/>
                </a:solidFill>
                <a:latin typeface="Arial"/>
              </a:rPr>
              <a:t>•  Broker kapalıysa API isteği yine 201/200 döner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700">
                <a:solidFill>
                  <a:srgbClr val="0B2545"/>
                </a:solidFill>
                <a:latin typeface="Arial"/>
              </a:rPr>
              <a:t>•  Event kaybolur ve terminale uyarı loglanır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700">
                <a:solidFill>
                  <a:srgbClr val="0B2545"/>
                </a:solidFill>
                <a:latin typeface="Arial"/>
              </a:rPr>
              <a:t>•  Retry: 3 deneme, 3 saniye istek zaman aşımı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840480"/>
            <a:ext cx="10789920" cy="5029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Sonuç:  veri yazma sorumluluğu ile event yayınlama sorumluluğu ayrışır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4572000"/>
            <a:ext cx="10789920" cy="50292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1400" b="1">
                <a:solidFill>
                  <a:srgbClr val="0B2545"/>
                </a:solidFill>
                <a:latin typeface="Arial"/>
              </a:rPr>
              <a:t>Pratik fayda:  API ve testler Kafka kurulmadan doğrulanabilir (testler KAFKA_ENABLED=0 ile koşar)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2545"/>
                </a:solidFill>
                <a:latin typeface="Arial"/>
              </a:rPr>
              <a:t>Prometheus Metrikleri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325880"/>
          <a:ext cx="10789919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54475"/>
                <a:gridCol w="2009887"/>
                <a:gridCol w="4125557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Metrik</a:t>
                      </a:r>
                    </a:p>
                  </a:txBody>
                  <a:tcPr marL="64008" marR="64008" marT="27432" marB="27432" anchor="ctr"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Tip</a:t>
                      </a:r>
                    </a:p>
                  </a:txBody>
                  <a:tcPr marL="64008" marR="64008" marT="27432" marB="27432" anchor="ctr"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Ne ölçer</a:t>
                      </a:r>
                    </a:p>
                  </a:txBody>
                  <a:tcPr marL="64008" marR="64008" marT="27432" marB="27432" anchor="ctr">
                    <a:solidFill>
                      <a:srgbClr val="1F6FE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cargo_created_total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Counter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Oluşturulan kargo sayısı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cargo_delivered_total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Counter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Teslim edilen kargo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cargo_cancelled_total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Counter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İptal edilen kargo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cargo_status_changed_total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Counter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Durum değişikliği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api_request_total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Counter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İstek sayısı (3 etiket)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api_request_duration_seconds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Histogram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İstek süresi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685800" y="3977639"/>
            <a:ext cx="10789920" cy="4572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1300" b="1">
                <a:solidFill>
                  <a:srgbClr val="0B2545"/>
                </a:solidFill>
                <a:latin typeface="Arial"/>
              </a:rPr>
              <a:t>Histogram otomatik _sum / _count / _max üretir → ortalama süre sorgusu mümkün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5720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06B7A"/>
                </a:solidFill>
                <a:latin typeface="Arial"/>
              </a:rPr>
              <a:t>Counter yalnızca artar (kargo sayısı monoton artar), Gauge ini çekilir.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2545"/>
                </a:solidFill>
                <a:latin typeface="Arial"/>
              </a:rPr>
              <a:t>Grafana Dashboard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325880"/>
          <a:ext cx="10789919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08207"/>
                <a:gridCol w="6981712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Panel grubu</a:t>
                      </a:r>
                    </a:p>
                  </a:txBody>
                  <a:tcPr marL="64008" marR="64008" marT="27432" marB="27432" anchor="ctr"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İçerik</a:t>
                      </a:r>
                    </a:p>
                  </a:txBody>
                  <a:tcPr marL="64008" marR="64008" marT="27432" marB="27432" anchor="ctr">
                    <a:solidFill>
                      <a:srgbClr val="1F6FE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6 istatistik paneli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Toplam, Teslim, İptal, Aktif Kargo, Event, API İsteği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4 zaman serisi grafiği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Dakikadaki işlem, API süresi, event türleri, durum dağılımı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685800" y="2514600"/>
            <a:ext cx="10789920" cy="4572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Dashboard JSON dosyasından provisioning ile yüklenir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0040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>
                <a:solidFill>
                  <a:srgbClr val="0B2545"/>
                </a:solidFill>
                <a:latin typeface="Arial"/>
              </a:rPr>
              <a:t>•  Container yeniden başlasa da korunur, elle yapılandırma gerekmez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>
                <a:solidFill>
                  <a:srgbClr val="0B2545"/>
                </a:solidFill>
                <a:latin typeface="Arial"/>
              </a:rPr>
              <a:t>•  Veri kaynağı da dosyadan tanımlanır (datasources/prometheus.yml)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>
                <a:solidFill>
                  <a:srgbClr val="0B2545"/>
                </a:solidFill>
                <a:latin typeface="Arial"/>
              </a:rPr>
              <a:t>•  Dashboard 5 saniyede bir yenilenir — Prometheus'un scrape aralığıyla aynı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>
                <a:solidFill>
                  <a:srgbClr val="0B2545"/>
                </a:solidFill>
                <a:latin typeface="Arial"/>
              </a:rPr>
              <a:t>•  Sunumdaki ekran görüntüsü: docs/grafana-dashboard.png (10 panel, canlı veri)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2545"/>
                </a:solidFill>
                <a:latin typeface="Arial"/>
              </a:rPr>
              <a:t>Test Sonuçları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8016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0B2545"/>
                </a:solidFill>
                <a:latin typeface="Arial"/>
              </a:rPr>
              <a:t>•  13 PyTest testi yazıldı (doküman isteği: en az 8)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0B2545"/>
                </a:solidFill>
                <a:latin typeface="Arial"/>
              </a:rPr>
              <a:t>•  Her test kendi geçici SQLite'ını kullanır (tmp_path) → testler izole ve sırasız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0B2545"/>
                </a:solidFill>
                <a:latin typeface="Arial"/>
              </a:rPr>
              <a:t>•  Testler KAFKA_ENABLED=0 ile Kafka bağımsız koşar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0B2545"/>
                </a:solidFill>
                <a:latin typeface="Arial"/>
              </a:rPr>
              <a:t>•  Tam akış senaryosu: 20 kargo → 10 IN_TRANSIT → 5 DELIVERED → 2 CANCELLED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3429000"/>
          <a:ext cx="1078991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2774"/>
                <a:gridCol w="7337145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Kontrol</a:t>
                      </a:r>
                    </a:p>
                  </a:txBody>
                  <a:tcPr marL="64008" marR="64008" marT="27432" marB="27432" anchor="ctr"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Sonuç</a:t>
                      </a:r>
                    </a:p>
                  </a:txBody>
                  <a:tcPr marL="64008" marR="64008" marT="27432" marB="27432" anchor="ctr">
                    <a:solidFill>
                      <a:srgbClr val="1F6FE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PyTest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13 passed in 1.75s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API metrikleri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oluşturma 20 · teslim 5 · iptal 2 · durum değişikliği 17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Consumer metrikleri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created 20 · status_changed 17 · delivered 5 · cancelled 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Prometheus hedefleri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cargo-api up, cargo-consumer up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85800" y="5349240"/>
            <a:ext cx="10789920" cy="548640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API sayaçları ile consumer sayaçları BİREBİR AYNI  →  event'ler kayıpsız iletildi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2545"/>
                </a:solidFill>
                <a:latin typeface="Arial"/>
              </a:rPr>
              <a:t>Docker Compose: Tek Komutla Beş Servis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325880"/>
          <a:ext cx="10789918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4761"/>
                <a:gridCol w="6333213"/>
                <a:gridCol w="1641944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Servis</a:t>
                      </a:r>
                    </a:p>
                  </a:txBody>
                  <a:tcPr marL="64008" marR="64008" marT="27432" marB="27432" anchor="ctr"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İmaj</a:t>
                      </a:r>
                    </a:p>
                  </a:txBody>
                  <a:tcPr marL="64008" marR="64008" marT="27432" marB="27432" anchor="ctr"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Port</a:t>
                      </a:r>
                    </a:p>
                  </a:txBody>
                  <a:tcPr marL="64008" marR="64008" marT="27432" marB="27432" anchor="ctr">
                    <a:solidFill>
                      <a:srgbClr val="1F6FE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kafka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apache/kafka:3.7.1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9092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flask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Dockerfile (build)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5000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consumer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Dockerfile (build)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9091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prometheus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prom/prometheus:v2.54.1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9090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grafana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grafana/grafana:11.2.0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Arial"/>
                        </a:rPr>
                        <a:t>3000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370332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>
                <a:solidFill>
                  <a:srgbClr val="0B2545"/>
                </a:solidFill>
                <a:latin typeface="Arial"/>
              </a:rPr>
              <a:t>•  Kafka KRaft modunda çalışır — ZooKeeper gerekmez (CLUSTER_ID ile küme kimliği)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>
                <a:solidFill>
                  <a:srgbClr val="0B2545"/>
                </a:solidFill>
                <a:latin typeface="Arial"/>
              </a:rPr>
              <a:t>•  Healthcheck: servisler Kafka hazır olmadan başlamaz (depends_on: service_healthy)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>
                <a:solidFill>
                  <a:srgbClr val="0B2545"/>
                </a:solidFill>
                <a:latin typeface="Arial"/>
              </a:rPr>
              <a:t>•  Volume: SQLite kalıcı; docker compose down -v ile temizlenir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>
                <a:solidFill>
                  <a:srgbClr val="0B2545"/>
                </a:solidFill>
                <a:latin typeface="Arial"/>
              </a:rPr>
              <a:t>•  Tek Dockerfile iki servis tarafından paylaşılır (flask + consumer)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5D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468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Arial"/>
              </a:rPr>
              <a:t>CANLI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474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Kargo oluştur  →  Kafka event  →  Consumer  →  Prometheus  →  Grafana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0B2545"/>
                </a:solidFill>
                <a:latin typeface="Consolas"/>
              </a:rPr>
              <a:t>bash scripts/demo.sh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2545"/>
                </a:solidFill>
                <a:latin typeface="Arial"/>
              </a:rPr>
              <a:t>Sonuç ve İleriye Yönelik Öneriler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80160"/>
            <a:ext cx="10789920" cy="4572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 servis tek komutla çalışıyor, uçtan uca zincir doğrulandı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202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6FEB"/>
                </a:solidFill>
                <a:latin typeface="Arial"/>
              </a:rPr>
              <a:t>Öğrenilen kavramlar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28600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Arial"/>
              </a:rPr>
              <a:t>•  Olay tabanlı mimari ve gevşek bağımlılık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Arial"/>
              </a:rPr>
              <a:t>•  Mesaj kuyruğu ayrışması — API yavaşlasa bile event kaybolmaz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Arial"/>
              </a:rPr>
              <a:t>•  Mesaj anahtarı (key) kullanımı ve sıralama garantisi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Arial"/>
              </a:rPr>
              <a:t>•  Metrik tasarımı: Counter/Histogram seçimi ve etiketleme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Arial"/>
              </a:rPr>
              <a:t>•  Test izolasyonu: tmp_path ile her testin kendi veritabanı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Arial"/>
              </a:rPr>
              <a:t>•  Docker orkestrasyonu: healthcheck, volume, provisioning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348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85D04"/>
                </a:solidFill>
                <a:latin typeface="Arial"/>
              </a:rPr>
              <a:t>İleriye yönelik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8006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Arial"/>
              </a:rPr>
              <a:t>•  PostgreSQL'e geçiş ve confluent-kafka ile daha yüksek performans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Arial"/>
              </a:rPr>
              <a:t>•  Prometheus alert kuralları ve Alertmanager ile otomatik bildirim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Arial"/>
              </a:rPr>
              <a:t>•  Web arayüzü ve gerçek taşıyıcı entegrasyonu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