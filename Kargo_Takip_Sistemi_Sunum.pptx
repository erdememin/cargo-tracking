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Açılış: Projemin amacı yalnızca çalışan bir REST API geliştirmek değil; uçtan uca kod yazma → test etme → olay üretme → olay tüketme → ölçme → görselleştirme → container'da çalıştırma zincirini kurmak.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Problemi somut anlat: kargo oluştuğunda kimseyi haberdar etmem gerekiyor. Doğrudan çağırsam API yavaşlar. Kafka tampon görevi görür.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Sağa doğru akışı takip et. API iki şey yapar: SQLite'a yazar, Kafka'ya event gönderir. Consumer bu event'leri okuyup metrik üretir.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Terminal durum kuralını vurgula — iş kuralı models.py'de, testlerle doğrulanmış. Hocaya 'bu neden önemli' diye sorulursa: gerçek hayatta teslim edilmiş kargo iptal edilemez.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olarak cargo_id vermek önemli bir karar. Kafka key'e göre partition atar; key yoksa round-robin dağıtır ve sıralama bozulur.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benim en çok savunduğum tasarım kararı. Testler KAFKA_ENABLED=0 ile Kafka olmadan koşar. Production'da kalıcı kuyruk (dead-letter) eklenebilir.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 vs Gauge farkını bilmesi gerekebilir: Counter sadece artar, Gauge ini çekilir. Kargo sayısı monoton artar -&gt;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Burada ekran görüntüsü göster. Provisioning'in avantajını açıkla: ortamlar arası tekrarlanabilirlik.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ÖNEMLİ NOKTA: API sayaçları ile consumer sayaçları birebir aynı (20/17/5/2). Bu, event'lerin kayıpsız iletildiğinin kanıtı.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Dockerfile tek, iki servis onu paylaşıyor (flask ve consumer). Kafka için bitnami yerine resmi apache imajı kullanıldı.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Sıra: 1) curl POST /cargo 2) consumer logları 3) /metrics 4) Prometheus targets 5) Grafana dashboard. Her adımda sayının değiştiğini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Kapanış: Nihai hedef kod yazma → test → olay üret → olay tüket → ölç → görselleştir → container'da çalıştırma zinciriydi ve hepsi tamamlandı.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ve Grafana Tabanlı Kargo Takip Sistemi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Olay tabanlı mimari ile izlenebilir bir REST API</a:t>
            </a:r>
          </a:p>
          <a:p/>
          <a:p>
            <a:r>
              <a:t>Erdem 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ve Çözüm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Kargo durumu değişiklikleri birden fazla servise bildirilmelidir</a:t>
            </a:r>
          </a:p>
          <a:p>
            <a:pPr/>
            <a:r>
              <a:rPr/>
              <a:t>Klasik yaklaşımda API her bileşene doğrudan bağlanır → sıkı bağımlılık</a:t>
            </a:r>
          </a:p>
          <a:p>
            <a:pPr/>
            <a:r>
              <a:rPr/>
              <a:t>Çözüm: olay tabanlı mimari — API sadece olayı üretir, bağlı olanlar kendileri dinler</a:t>
            </a:r>
          </a:p>
          <a:p>
            <a:pPr/>
            <a:r>
              <a:rPr/>
              <a:t>Sonuç: API yavaşlasa bile event'ler kaybolmaz, yeni servisler kolayca eklenir</a:t>
            </a:r>
          </a:p>
          <a:p>
            <a:pPr/>
            <a:r>
              <a:rPr/>
              <a:t>Bu projede: Flask → Kafka → Consumer → Prometheus → Grafana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Mimarisi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Tek komutla ayağa kalkar: docker compose up -d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05840" cy="457200"/>
          </a:xfrm>
          <a:prstGeom prst="rect">
            <a:avLst/>
          </a:prstGeom>
          <a:solidFill>
            <a:srgbClr val="1F6F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5" name="Chevron 4"/>
          <p:cNvSpPr/>
          <p:nvPr/>
        </p:nvSpPr>
        <p:spPr>
          <a:xfrm>
            <a:off x="1600200" y="896112"/>
            <a:ext cx="1371600" cy="310896"/>
          </a:xfrm>
          <a:prstGeom prst="chevron">
            <a:avLst/>
          </a:prstGeom>
          <a:solidFill>
            <a:srgbClr val="829AB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POST /cargo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685800"/>
            <a:ext cx="1554480" cy="731520"/>
          </a:xfrm>
          <a:prstGeom prst="rect">
            <a:avLst/>
          </a:prstGeom>
          <a:solidFill>
            <a:srgbClr val="1F6F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Flask API</a:t>
            </a:r>
          </a:p>
          <a:p>
            <a:r>
              <a:t>:5000</a:t>
            </a:r>
          </a:p>
        </p:txBody>
      </p:sp>
      <p:sp>
        <p:nvSpPr>
          <p:cNvPr id="7" name="Chevron 6"/>
          <p:cNvSpPr/>
          <p:nvPr/>
        </p:nvSpPr>
        <p:spPr>
          <a:xfrm>
            <a:off x="3017520" y="1554480"/>
            <a:ext cx="3931920" cy="310896"/>
          </a:xfrm>
          <a:prstGeom prst="chevron">
            <a:avLst/>
          </a:prstGeom>
          <a:solidFill>
            <a:srgbClr val="829AB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SQLite + Kafka event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965960"/>
            <a:ext cx="1554480" cy="822960"/>
          </a:xfrm>
          <a:prstGeom prst="rect">
            <a:avLst/>
          </a:prstGeom>
          <a:solidFill>
            <a:srgbClr val="0B2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Kafka</a:t>
            </a:r>
          </a:p>
          <a:p>
            <a:r>
              <a:t>cargo-events</a:t>
            </a:r>
          </a:p>
          <a:p>
            <a:r>
              <a:t>:9092</a:t>
            </a:r>
          </a:p>
        </p:txBody>
      </p:sp>
      <p:sp>
        <p:nvSpPr>
          <p:cNvPr id="9" name="Chevron 8"/>
          <p:cNvSpPr/>
          <p:nvPr/>
        </p:nvSpPr>
        <p:spPr>
          <a:xfrm>
            <a:off x="3200400" y="2926080"/>
            <a:ext cx="1554480" cy="310896"/>
          </a:xfrm>
          <a:prstGeom prst="chevron">
            <a:avLst/>
          </a:prstGeom>
          <a:solidFill>
            <a:srgbClr val="829AB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event okunur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337560"/>
            <a:ext cx="1554480" cy="640080"/>
          </a:xfrm>
          <a:prstGeom prst="rect">
            <a:avLst/>
          </a:prstGeom>
          <a:solidFill>
            <a:srgbClr val="0B2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Consumer</a:t>
            </a:r>
          </a:p>
          <a:p>
            <a:r>
              <a:t>:9091</a:t>
            </a:r>
          </a:p>
        </p:txBody>
      </p:sp>
      <p:sp>
        <p:nvSpPr>
          <p:cNvPr id="11" name="Chevron 10"/>
          <p:cNvSpPr/>
          <p:nvPr/>
        </p:nvSpPr>
        <p:spPr>
          <a:xfrm>
            <a:off x="4937760" y="3520440"/>
            <a:ext cx="1097280" cy="274320"/>
          </a:xfrm>
          <a:prstGeom prst="chevron">
            <a:avLst/>
          </a:prstGeom>
          <a:solidFill>
            <a:srgbClr val="829AB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/metrics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3337560"/>
            <a:ext cx="1463040" cy="640080"/>
          </a:xfrm>
          <a:prstGeom prst="rect">
            <a:avLst/>
          </a:prstGeom>
          <a:solidFill>
            <a:srgbClr val="E85D0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Prometheus</a:t>
            </a:r>
          </a:p>
          <a:p>
            <a:r>
              <a:t>:9090</a:t>
            </a:r>
          </a:p>
        </p:txBody>
      </p:sp>
      <p:sp>
        <p:nvSpPr>
          <p:cNvPr id="13" name="Chevron 12"/>
          <p:cNvSpPr/>
          <p:nvPr/>
        </p:nvSpPr>
        <p:spPr>
          <a:xfrm>
            <a:off x="6080760" y="2743200"/>
            <a:ext cx="1463040" cy="274320"/>
          </a:xfrm>
          <a:prstGeom prst="chevron">
            <a:avLst/>
          </a:prstGeom>
          <a:solidFill>
            <a:srgbClr val="829AB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sorgu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965960"/>
            <a:ext cx="1463040" cy="640080"/>
          </a:xfrm>
          <a:prstGeom prst="rect">
            <a:avLst/>
          </a:prstGeom>
          <a:solidFill>
            <a:srgbClr val="E85D0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Grafana</a:t>
            </a:r>
          </a:p>
          <a:p>
            <a:r>
              <a:t>:3000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solidFill>
            <a:srgbClr val="3D5A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SQLite</a:t>
            </a:r>
          </a:p>
          <a:p>
            <a:r>
              <a:t>kargo kaydı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API ve Durum Makinesi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CREATED → SHIPPED → IN_TRANSIT → OUT_FOR_DELIVERY → DELIVERED</a:t>
            </a:r>
          </a:p>
          <a:p>
            <a:pPr/>
            <a:r>
              <a:rPr/>
              <a:t>DELIVERED ve CANCELLED terminal durumdur: tekrar değiştirilemez, API 400 döner</a:t>
            </a:r>
          </a:p>
          <a:p>
            <a:pPr/>
            <a:r>
              <a:rPr/>
              <a:t>Bu kural teslim edilmiş kargonun yeniden yola çıkmasını engeller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04800">
                <a:tc>
                  <a:txBody>
                    <a:bodyPr/>
                    <a:lstStyle/>
                    <a:p>
                      <a:r>
                        <a:t>Metot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İşlev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Yanıt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Kargo oluştur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Listele + filtrele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/cargo/&lt;id&gt;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Tek kargo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/cargo/&lt;id&gt;/status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Durum değiştir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200/400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/cargo/&lt;id&gt;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200/404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Producer: 5 Olay Tipi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cargo.created — kargo oluşturuldu</a:t>
            </a:r>
          </a:p>
          <a:p>
            <a:pPr/>
            <a:r>
              <a:rPr/>
              <a:t>cargo.status_changed — durum değişti</a:t>
            </a:r>
          </a:p>
          <a:p>
            <a:pPr/>
            <a:r>
              <a:rPr/>
              <a:t>cargo.delivered — teslim edildi</a:t>
            </a:r>
          </a:p>
          <a:p>
            <a:pPr/>
            <a:r>
              <a:rPr/>
              <a:t>cargo.cancelled — iptal edildi</a:t>
            </a:r>
          </a:p>
          <a:p>
            <a:pPr/>
            <a:r>
              <a:rPr/>
              <a:t>cargo.deleted — silindi</a:t>
            </a:r>
          </a:p>
          <a:p>
            <a:pPr/>
            <a:r>
              <a:rPr/>
              <a:t>cargo_id mesaj anahtarı (key) olarak kullanılır → aynı kargonun event'leri aynı partition'a düşer, sıralama korunur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Tasarım Kararı: Kafka Yokken API Çökmez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Producer tembel (lazy) bağlanır: uygulama açılışında değil, ilk gönderimde</a:t>
            </a:r>
          </a:p>
          <a:p>
            <a:pPr/>
            <a:r>
              <a:rPr/>
              <a:t>Broker kapalıysa API isteği yine 201/200 döner, event kaybolur ve loglanır</a:t>
            </a:r>
          </a:p>
          <a:p>
            <a:pPr/>
            <a:r>
              <a:rPr/>
              <a:t>Retry: 3 deneme, 3 saniye zaman aşımı</a:t>
            </a:r>
          </a:p>
          <a:p>
            <a:pPr/>
            <a:r>
              <a:rPr/>
              <a:t>Sonuç: veri yazma sorumluluğu ile event yayınlama sorumluluğu ayrışır</a:t>
            </a:r>
          </a:p>
          <a:p>
            <a:pPr/>
            <a:r>
              <a:rPr/>
              <a:t>Pratik fayda: API ve testler Kafka kurulmadan doğrulanabilir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Prometheus Metrikleri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Histogram otomatik _sum / _count / _max üretir → ortalama süre sorgusu mümkün</a:t>
            </a:r>
          </a:p>
          <a:p>
            <a:pPr/>
            <a:r>
              <a:rPr/>
              <a:t>Etiket seçimi (method, endpoint, status) sorgu esnekliği sağlar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61257">
                <a:tc>
                  <a:txBody>
                    <a:bodyPr/>
                    <a:lstStyle/>
                    <a:p>
                      <a:r>
                        <a:t>Metrik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 ölçer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cargo_created_total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Oluşturulan kargo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cargo_delivered_total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Teslim edilen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cargo_cancelled_total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İptal edilen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cargo_status_changed_total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Durum değişikliği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api_request_total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İstek sayısı (3 etiket)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r>
                        <a:t>api_request_duration_seconds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İstek süresi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Grafana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6 istatistik paneli: Toplam, Teslim, İptal, Aktif Kargo, Event, API İsteği</a:t>
            </a:r>
          </a:p>
          <a:p>
            <a:pPr/>
            <a:r>
              <a:rPr/>
              <a:t>4 zaman serisi grafiği: dakikadaki işlem, API süresi, event türleri, durum dağılımı</a:t>
            </a:r>
          </a:p>
          <a:p>
            <a:pPr/>
            <a:r>
              <a:rPr/>
              <a:t>Dashboard JSON dosyasından provisioning ile yüklenir</a:t>
            </a:r>
          </a:p>
          <a:p>
            <a:pPr/>
            <a:r>
              <a:rPr/>
              <a:t>Container yeniden başlasa da korunur, elle yapılandırma gerekmez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Sonuçları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13 PyTest testi — doküman isteği 8, projede 13 yazıldı</a:t>
            </a:r>
          </a:p>
          <a:p>
            <a:pPr/>
            <a:r>
              <a:rPr/>
              <a:t>Her test kendi geçici SQLite'ını kullanır (tmp_path) → testler izole, sırasız</a:t>
            </a:r>
          </a:p>
          <a:p>
            <a:pPr/>
            <a:r>
              <a:rPr/>
              <a:t>Testler KAFKA_ENABLED=0 ile Kafka bağımsız koşar</a:t>
            </a:r>
          </a:p>
          <a:p>
            <a:pPr/>
            <a:r>
              <a:rPr/>
              <a:t>Tam akış senaryosu: 20 kargo → 10 IN_TRANSIT → 5 DELIVERED → 2 CANCELLED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Kontrol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Sonuç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PyTest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 passed in 1.75s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API metrikleri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/ 5 / 2 / 17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Consumer metrikleri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/ 17 / 5 / 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Prometheus hedefleri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cargo-api up, cargo-consumer 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Compose: Tek Komut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Kafka KRaft modunda çalışır (ZooKeeper yok)</a:t>
            </a:r>
          </a:p>
          <a:p>
            <a:pPr/>
            <a:r>
              <a:rPr/>
              <a:t>Healthcheck: servisler Kafka hazır olmadan başlamaz</a:t>
            </a:r>
          </a:p>
          <a:p>
            <a:pPr/>
            <a:r>
              <a:rPr/>
              <a:t>Volume: SQLite kalıcı, docker compose down -v ile temizlenir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04800">
                <a:tc>
                  <a:txBody>
                    <a:bodyPr/>
                    <a:lstStyle/>
                    <a:p>
                      <a:r>
                        <a:t>Servis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İmaj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Port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apache/kafka:3.7.1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9092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flask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Dockerfile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Dockerfile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9091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prometheus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prom/prometheus:v2.54.1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grafana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grafana/grafana:11.2.0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5D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CANLI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Kargo oluştur → Kafka event → Consumer → Prometheus → Grafana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 ve Öneriler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5 servis tek komutla çalışıyor, uçtan uca zincir doğrulandı</a:t>
            </a:r>
          </a:p>
          <a:p>
            <a:pPr/>
            <a:r>
              <a:rPr/>
              <a:t>API sayaçları ile consumer sayaçlarının eşleşmesi → kayıpsız event iletimi kanıtı</a:t>
            </a:r>
          </a:p>
          <a:p>
            <a:pPr/>
            <a:r>
              <a:rPr/>
              <a:t>Öğrenilen: olay tabanlı mimari, mesaj anahtarı kullanımı, metrik tasarımı, test izolasyonu, Docker orkestrasyonu</a:t>
            </a:r>
          </a:p>
          <a:p>
            <a:pPr/>
            <a:r>
              <a:rPr/>
              <a:t>İleriye yönelik: PostgreSQL, confluent-kafka, Alertmanager, web arayüzü, gerçek taşıyıcı entegrasyonu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